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EB99"/>
    <a:srgbClr val="F6C3FF"/>
    <a:srgbClr val="98C2FA"/>
    <a:srgbClr val="63A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0B146-202D-7105-03DE-DBBFA6E51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FFD8C-E2B5-2B13-8682-2CFC0224F0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45A3A-CF0F-3A49-9F6D-9F5D1BCB7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FE3F-807B-43E2-ADFC-5E51497CE78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B91B6-EEF5-86D6-795D-764A3D9C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B0BB8-C13D-6573-8F14-60ABA4876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7740-AB48-4351-996E-B6CFE2D3E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073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9C6BB-B58E-BDED-CE46-B598444E9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FBDBC-9113-820C-7876-81D23A95E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637E0-336F-5973-F021-FA311CC3F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FE3F-807B-43E2-ADFC-5E51497CE78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571BD-7223-97A2-FE73-F98183F6D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87554-958F-0B30-B978-522AB1636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7740-AB48-4351-996E-B6CFE2D3E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773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523C0-9290-0E68-594E-01BDE5E78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03D3E-320E-4BEF-B953-A04A4B4C2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7A60B-0FA8-00A7-3908-C3CD5CDB0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FE3F-807B-43E2-ADFC-5E51497CE78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912A4-C470-CA6D-2470-0ABA81431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4E990-D07C-A45E-89A6-8CFAC5DE2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7740-AB48-4351-996E-B6CFE2D3E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190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0DB0F-56B2-860F-9A03-E311102AE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DB727-E06D-1E98-5EA6-4FAEC3F686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2B4DC-9CFD-D177-E7C6-897A19325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DB60F-A4C3-79E4-46C0-C242C9858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FE3F-807B-43E2-ADFC-5E51497CE78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6753B6-7639-B545-2A60-C64738A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4196F-355C-1E8F-97DF-37C8450CF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7740-AB48-4351-996E-B6CFE2D3E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292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1818-BD0D-0A56-25DA-3710CC333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34053-8F0A-A41D-9A87-576D9FB76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8D4C7-CD58-5D70-29AE-5F9E3DFE2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E57009-95E4-C47C-4AC6-8540AB1E48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6767DB-B92D-104C-FD91-D9B4D5C588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A0BC8F-F281-78A3-DBF6-414242B1B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FE3F-807B-43E2-ADFC-5E51497CE78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EA9A58-1C3E-D3A6-E010-F63328CC6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F2A41B-3D75-EEF7-38B8-47718C728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7740-AB48-4351-996E-B6CFE2D3E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865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E376A-B843-9267-B7AE-69CC9C30C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84866F-B5D4-33A0-3D80-435AA11F9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FE3F-807B-43E2-ADFC-5E51497CE78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C76FB3-12FB-4A16-7593-EE65B8702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330E4-C292-2272-A6F1-8826DF32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7740-AB48-4351-996E-B6CFE2D3E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428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F0FCBE-E86D-CDAE-F04E-4C89AEB3F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FE3F-807B-43E2-ADFC-5E51497CE78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0E9EE1-0F62-EA33-4ABE-CE2C45CFC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AFDF3-61C3-6E22-DD96-D6E7D5CDD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7740-AB48-4351-996E-B6CFE2D3E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767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62A86-A481-8B27-8A31-451C85E8B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F4320-B41B-4BD3-DF1A-F98BED586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5CD2C6-9639-7F38-909A-4AE163A45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AAE01-36CA-28CE-C52A-203201C52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FE3F-807B-43E2-ADFC-5E51497CE78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EDF960-33F7-8AC4-051D-D4D2634BA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88A8B-017D-5BB3-FCEA-29EB06C5A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7740-AB48-4351-996E-B6CFE2D3E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073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CC709-963E-D8B6-89F0-8D5A19331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36F553-C3E4-F760-82AC-4C2012E03F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E5320-2CFD-116A-6CC9-A0077A2BC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D847B-CA3F-7A85-FCCC-2AD38EBDB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FE3F-807B-43E2-ADFC-5E51497CE78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4C57A-EDAA-13DD-D3F8-81F8AF79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F93481-85EE-2794-9340-77205BB6A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7740-AB48-4351-996E-B6CFE2D3E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848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9F3B3-EC4B-6980-02C4-7B255DAAA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68736F-ACD5-0769-8020-6733BF68B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8C12F-0879-630B-F09E-245CF1005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FE3F-807B-43E2-ADFC-5E51497CE78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4A569-79D1-672F-5BBC-30FF703A5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279BD-5F68-C512-5E09-29B20242B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7740-AB48-4351-996E-B6CFE2D3E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1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4EE790-456D-D750-140A-C13FEAC745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81BF84-80BB-A49D-61F3-4044B20CD0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7298E-B8A3-53E5-33EB-58EA46E70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FE3F-807B-43E2-ADFC-5E51497CE78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11243-1677-4FC9-108B-6890973A6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8DE1A-464F-C3C1-7DC8-1A49EF3F5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17740-AB48-4351-996E-B6CFE2D3E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454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0805FE-3315-CEA6-1EE4-C28B45BCC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D278E-3424-FE86-6867-907E3CE97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67833-8EE2-8C30-E5B4-0227904404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80FE3F-807B-43E2-ADFC-5E51497CE78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26958-4B24-8DCE-F08C-38FFB7A1D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EB23E-6354-BB62-4F22-9EAA1799F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17740-AB48-4351-996E-B6CFE2D3EF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60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6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4E623-B0AF-59A7-E51B-FE1BBCC4E7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TEST 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3486175-9901-ADBC-1124-3BC8A34C92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III – A, B, C, D</a:t>
            </a:r>
          </a:p>
        </p:txBody>
      </p:sp>
    </p:spTree>
    <p:extLst>
      <p:ext uri="{BB962C8B-B14F-4D97-AF65-F5344CB8AC3E}">
        <p14:creationId xmlns:p14="http://schemas.microsoft.com/office/powerpoint/2010/main" val="2466151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4DD420A-5A7A-0B75-5444-45CC52BB7869}"/>
              </a:ext>
            </a:extLst>
          </p:cNvPr>
          <p:cNvSpPr/>
          <p:nvPr/>
        </p:nvSpPr>
        <p:spPr>
          <a:xfrm>
            <a:off x="7335748" y="236306"/>
            <a:ext cx="4856252" cy="613367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921DE6-A221-60B1-401B-808D083898AD}"/>
              </a:ext>
            </a:extLst>
          </p:cNvPr>
          <p:cNvSpPr/>
          <p:nvPr/>
        </p:nvSpPr>
        <p:spPr>
          <a:xfrm>
            <a:off x="184935" y="3336391"/>
            <a:ext cx="6750121" cy="292813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DEF21F-87E6-280B-2EB8-961D1C7D0B90}"/>
              </a:ext>
            </a:extLst>
          </p:cNvPr>
          <p:cNvSpPr/>
          <p:nvPr/>
        </p:nvSpPr>
        <p:spPr>
          <a:xfrm>
            <a:off x="184935" y="236306"/>
            <a:ext cx="6750121" cy="292813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32417-C347-253D-0136-85A13D2DDA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684" y="394341"/>
            <a:ext cx="2007743" cy="2612811"/>
          </a:xfrm>
          <a:solidFill>
            <a:srgbClr val="FFFF00"/>
          </a:solidFill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8800" b="1"/>
              <a:t>GROUP A</a:t>
            </a:r>
          </a:p>
          <a:p>
            <a:r>
              <a:rPr lang="en-US" sz="8800" b="1"/>
              <a:t>Addition  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8800"/>
              <a:t>324 + 157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8800"/>
              <a:t>486 + 309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8800"/>
              <a:t>275 + 628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8800"/>
              <a:t>593 + 184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8800"/>
              <a:t>712 + 267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2EE88-DE34-64D1-E896-3AD2593CA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2814" y="3429000"/>
            <a:ext cx="2149437" cy="2694398"/>
          </a:xfrm>
          <a:solidFill>
            <a:srgbClr val="F6C3FF"/>
          </a:solidFill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8800" b="1"/>
              <a:t>GROUP B</a:t>
            </a:r>
          </a:p>
          <a:p>
            <a:r>
              <a:rPr lang="en-US" sz="8800" b="1"/>
              <a:t>Addition   </a:t>
            </a:r>
            <a:endParaRPr lang="en-US" sz="8800"/>
          </a:p>
          <a:p>
            <a:pPr marL="514350" indent="-514350">
              <a:buFont typeface="+mj-lt"/>
              <a:buAutoNum type="arabicPeriod"/>
            </a:pPr>
            <a:r>
              <a:rPr lang="en-US" sz="8800"/>
              <a:t>431 + 548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8800"/>
              <a:t>289 + 675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8800"/>
              <a:t>368 + 421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8800"/>
              <a:t>507 + 398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8800"/>
              <a:t>649 + 230</a:t>
            </a:r>
          </a:p>
          <a:p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8293E68-F2B4-C0AA-EDF8-A814AA8F8568}"/>
              </a:ext>
            </a:extLst>
          </p:cNvPr>
          <p:cNvSpPr txBox="1">
            <a:spLocks/>
          </p:cNvSpPr>
          <p:nvPr/>
        </p:nvSpPr>
        <p:spPr>
          <a:xfrm>
            <a:off x="2574531" y="398264"/>
            <a:ext cx="2007744" cy="2612811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IN" b="1" dirty="0"/>
              <a:t>GROUP A</a:t>
            </a:r>
          </a:p>
          <a:p>
            <a:r>
              <a:rPr lang="en-IN" b="1" dirty="0"/>
              <a:t>Subtraction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845 − 329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703 − 258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964 − 487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622 − 314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753 − 426</a:t>
            </a:r>
          </a:p>
          <a:p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58ABAD-C46F-8967-069D-5FBC7249AA43}"/>
              </a:ext>
            </a:extLst>
          </p:cNvPr>
          <p:cNvSpPr txBox="1">
            <a:spLocks/>
          </p:cNvSpPr>
          <p:nvPr/>
        </p:nvSpPr>
        <p:spPr>
          <a:xfrm>
            <a:off x="4723967" y="394341"/>
            <a:ext cx="2132742" cy="2612812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fr-FR" sz="8800" b="1" dirty="0"/>
              <a:t>GROUP A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fr-FR" sz="8800" b="1" dirty="0"/>
              <a:t>Multiplication 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8800" dirty="0"/>
              <a:t>123 × 24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8800" dirty="0"/>
              <a:t>214 × 13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8800" dirty="0"/>
              <a:t>356 × 12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8800" dirty="0"/>
              <a:t>478 × 15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8800" dirty="0"/>
              <a:t>265 × 19</a:t>
            </a:r>
          </a:p>
          <a:p>
            <a:endParaRPr lang="en-IN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F6E3314-B785-B821-D474-85184F633876}"/>
              </a:ext>
            </a:extLst>
          </p:cNvPr>
          <p:cNvSpPr txBox="1">
            <a:spLocks/>
          </p:cNvSpPr>
          <p:nvPr/>
        </p:nvSpPr>
        <p:spPr>
          <a:xfrm>
            <a:off x="2574531" y="3429000"/>
            <a:ext cx="2007744" cy="2694398"/>
          </a:xfrm>
          <a:prstGeom prst="rect">
            <a:avLst/>
          </a:prstGeom>
          <a:solidFill>
            <a:srgbClr val="F6C3FF"/>
          </a:solidFill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b="1" dirty="0"/>
              <a:t>GROUP B</a:t>
            </a:r>
          </a:p>
          <a:p>
            <a:r>
              <a:rPr lang="en-US" b="1" dirty="0"/>
              <a:t>Subtraction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908 − 372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675 − 248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591 − 365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842 − 419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730 − 284</a:t>
            </a:r>
          </a:p>
          <a:p>
            <a:endParaRPr lang="en-IN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4E07CA7-EA20-8EBC-5CD5-722217560964}"/>
              </a:ext>
            </a:extLst>
          </p:cNvPr>
          <p:cNvSpPr txBox="1">
            <a:spLocks/>
          </p:cNvSpPr>
          <p:nvPr/>
        </p:nvSpPr>
        <p:spPr>
          <a:xfrm>
            <a:off x="4707273" y="3416157"/>
            <a:ext cx="2149436" cy="2776592"/>
          </a:xfrm>
          <a:prstGeom prst="rect">
            <a:avLst/>
          </a:prstGeom>
          <a:solidFill>
            <a:srgbClr val="F6C3FF"/>
          </a:solidFill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b="1" dirty="0"/>
              <a:t>GROUP B</a:t>
            </a:r>
          </a:p>
          <a:p>
            <a:r>
              <a:rPr lang="en-US" b="1" dirty="0"/>
              <a:t>Multiplication   </a:t>
            </a:r>
            <a:endParaRPr lang="fr-FR" dirty="0"/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332 × 14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409 × 18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527 × 21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618 × 17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345 × 16</a:t>
            </a:r>
          </a:p>
          <a:p>
            <a:endParaRPr lang="en-IN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CB73443A-4A15-5686-624C-282384E05E76}"/>
              </a:ext>
            </a:extLst>
          </p:cNvPr>
          <p:cNvSpPr txBox="1">
            <a:spLocks/>
          </p:cNvSpPr>
          <p:nvPr/>
        </p:nvSpPr>
        <p:spPr>
          <a:xfrm>
            <a:off x="7582324" y="394341"/>
            <a:ext cx="2149436" cy="2776592"/>
          </a:xfrm>
          <a:prstGeom prst="rect">
            <a:avLst/>
          </a:prstGeom>
          <a:solidFill>
            <a:srgbClr val="7CEB99"/>
          </a:solidFill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b="1" dirty="0"/>
              <a:t>GROUP C</a:t>
            </a:r>
          </a:p>
          <a:p>
            <a:r>
              <a:rPr lang="en-US" b="1" dirty="0"/>
              <a:t>Addition   </a:t>
            </a:r>
            <a:endParaRPr lang="fr-FR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324 + 157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486 + 309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275 + 628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593 + 184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712 + 267</a:t>
            </a:r>
          </a:p>
          <a:p>
            <a:endParaRPr lang="en-IN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40A09061-131B-8ED8-97FB-EE3BBA2221F6}"/>
              </a:ext>
            </a:extLst>
          </p:cNvPr>
          <p:cNvSpPr txBox="1">
            <a:spLocks/>
          </p:cNvSpPr>
          <p:nvPr/>
        </p:nvSpPr>
        <p:spPr>
          <a:xfrm>
            <a:off x="9857629" y="394341"/>
            <a:ext cx="2149436" cy="2776592"/>
          </a:xfrm>
          <a:prstGeom prst="rect">
            <a:avLst/>
          </a:prstGeom>
          <a:solidFill>
            <a:srgbClr val="7CEB99"/>
          </a:solidFill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b="1" dirty="0"/>
              <a:t>GROUP C</a:t>
            </a:r>
          </a:p>
          <a:p>
            <a:r>
              <a:rPr lang="en-US" b="1" dirty="0"/>
              <a:t>Subtraction   </a:t>
            </a:r>
            <a:endParaRPr lang="fr-FR" dirty="0"/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845 − 329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703 − 258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964 − 487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622 − 314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753 − 426</a:t>
            </a:r>
          </a:p>
          <a:p>
            <a:endParaRPr lang="en-IN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D36D9748-44DC-2E5D-8ECB-E4C29504B7C7}"/>
              </a:ext>
            </a:extLst>
          </p:cNvPr>
          <p:cNvSpPr txBox="1">
            <a:spLocks/>
          </p:cNvSpPr>
          <p:nvPr/>
        </p:nvSpPr>
        <p:spPr>
          <a:xfrm>
            <a:off x="8542750" y="3416157"/>
            <a:ext cx="2317033" cy="2776592"/>
          </a:xfrm>
          <a:prstGeom prst="rect">
            <a:avLst/>
          </a:prstGeom>
          <a:solidFill>
            <a:srgbClr val="7CEB99"/>
          </a:solidFill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b="1" dirty="0"/>
              <a:t>GROUP C</a:t>
            </a:r>
          </a:p>
          <a:p>
            <a:r>
              <a:rPr lang="en-US" b="1" dirty="0"/>
              <a:t>Multiplication   </a:t>
            </a:r>
            <a:endParaRPr lang="fr-FR" dirty="0"/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332 × 14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409 × 18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527 × 21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618 × 17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345 × 16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9577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0CB7A-A6AF-0253-48C2-AF64A0E88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FCBEBC6-6F90-3420-F690-BBFFEEE92A1E}"/>
              </a:ext>
            </a:extLst>
          </p:cNvPr>
          <p:cNvSpPr/>
          <p:nvPr/>
        </p:nvSpPr>
        <p:spPr>
          <a:xfrm>
            <a:off x="6020656" y="486130"/>
            <a:ext cx="6171344" cy="613367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8490CF-0DF0-5E6C-6B17-E7C5C174356F}"/>
              </a:ext>
            </a:extLst>
          </p:cNvPr>
          <p:cNvSpPr/>
          <p:nvPr/>
        </p:nvSpPr>
        <p:spPr>
          <a:xfrm>
            <a:off x="113017" y="493160"/>
            <a:ext cx="5836572" cy="61336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92620-3271-A4E3-41AC-2D52E8D1A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3786" y="784759"/>
            <a:ext cx="2529567" cy="5350267"/>
          </a:xfrm>
          <a:solidFill>
            <a:srgbClr val="FFFF00"/>
          </a:solidFill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11200" b="1" dirty="0"/>
              <a:t>GROUP A</a:t>
            </a:r>
          </a:p>
          <a:p>
            <a:r>
              <a:rPr lang="en-US" sz="11200" b="1" dirty="0"/>
              <a:t>Division   </a:t>
            </a:r>
          </a:p>
          <a:p>
            <a:pPr marL="360000" indent="-540000">
              <a:buFont typeface="+mj-lt"/>
              <a:buAutoNum type="arabicPeriod"/>
            </a:pPr>
            <a:r>
              <a:rPr lang="en-IN" sz="11600" dirty="0"/>
              <a:t>936 ÷ 26</a:t>
            </a:r>
          </a:p>
          <a:p>
            <a:pPr marL="360000" indent="-540000">
              <a:buFont typeface="+mj-lt"/>
              <a:buAutoNum type="arabicPeriod"/>
            </a:pPr>
            <a:r>
              <a:rPr lang="en-IN" sz="11600" dirty="0"/>
              <a:t>525 ÷ 21</a:t>
            </a:r>
          </a:p>
          <a:p>
            <a:pPr marL="360000" indent="-540000">
              <a:buFont typeface="+mj-lt"/>
              <a:buAutoNum type="arabicPeriod"/>
            </a:pPr>
            <a:r>
              <a:rPr lang="en-IN" sz="11600" dirty="0"/>
              <a:t>672 ÷ 28</a:t>
            </a:r>
          </a:p>
          <a:p>
            <a:pPr marL="360000" indent="-540000">
              <a:buFont typeface="+mj-lt"/>
              <a:buAutoNum type="arabicPeriod"/>
            </a:pPr>
            <a:r>
              <a:rPr lang="en-IN" sz="11600" dirty="0"/>
              <a:t>744 ÷ 31</a:t>
            </a:r>
          </a:p>
          <a:p>
            <a:pPr marL="360000" indent="-540000">
              <a:buFont typeface="+mj-lt"/>
              <a:buAutoNum type="arabicPeriod"/>
            </a:pPr>
            <a:r>
              <a:rPr lang="en-IN" sz="11600" dirty="0"/>
              <a:t>810 ÷ 27</a:t>
            </a:r>
          </a:p>
          <a:p>
            <a:pPr marL="360000" indent="-540000">
              <a:buFont typeface="+mj-lt"/>
              <a:buAutoNum type="arabicPeriod"/>
            </a:pPr>
            <a:r>
              <a:rPr lang="en-IN" sz="11600" dirty="0"/>
              <a:t>912 ÷ 38</a:t>
            </a:r>
          </a:p>
          <a:p>
            <a:pPr marL="360000" indent="-540000">
              <a:buFont typeface="+mj-lt"/>
              <a:buAutoNum type="arabicPeriod"/>
            </a:pPr>
            <a:r>
              <a:rPr lang="en-IN" sz="11600" dirty="0"/>
              <a:t>660 ÷ 30</a:t>
            </a:r>
          </a:p>
          <a:p>
            <a:pPr marL="360000" indent="-540000">
              <a:buFont typeface="+mj-lt"/>
              <a:buAutoNum type="arabicPeriod"/>
            </a:pPr>
            <a:r>
              <a:rPr lang="en-IN" sz="11600" dirty="0"/>
              <a:t>990 ÷ 45</a:t>
            </a:r>
          </a:p>
          <a:p>
            <a:pPr marL="360000" indent="-540000">
              <a:buFont typeface="+mj-lt"/>
              <a:buAutoNum type="arabicPeriod"/>
            </a:pPr>
            <a:r>
              <a:rPr lang="en-IN" sz="11600" dirty="0"/>
              <a:t>576 ÷ 24</a:t>
            </a:r>
          </a:p>
          <a:p>
            <a:pPr marL="360000" indent="-540000">
              <a:buFont typeface="+mj-lt"/>
              <a:buAutoNum type="arabicPeriod"/>
            </a:pPr>
            <a:r>
              <a:rPr lang="en-IN" sz="11600" dirty="0"/>
              <a:t>864 ÷ 24</a:t>
            </a:r>
          </a:p>
          <a:p>
            <a:pPr marL="360000" indent="-540000">
              <a:buFont typeface="+mj-lt"/>
              <a:buAutoNum type="arabicPeriod"/>
            </a:pPr>
            <a:endParaRPr lang="en-IN" sz="11200" dirty="0"/>
          </a:p>
          <a:p>
            <a:endParaRPr lang="en-IN" sz="8800" dirty="0"/>
          </a:p>
          <a:p>
            <a:endParaRPr lang="en-IN" sz="8800" dirty="0"/>
          </a:p>
          <a:p>
            <a:pPr marL="514350" indent="-514350">
              <a:buFont typeface="+mj-lt"/>
              <a:buAutoNum type="arabicPeriod"/>
            </a:pPr>
            <a:endParaRPr lang="en-US" sz="8800" dirty="0"/>
          </a:p>
          <a:p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444D61-FC98-7911-6B45-B5E48C3F414F}"/>
              </a:ext>
            </a:extLst>
          </p:cNvPr>
          <p:cNvSpPr txBox="1">
            <a:spLocks/>
          </p:cNvSpPr>
          <p:nvPr/>
        </p:nvSpPr>
        <p:spPr>
          <a:xfrm>
            <a:off x="297950" y="784759"/>
            <a:ext cx="2894769" cy="3376276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b="1" dirty="0"/>
              <a:t>GROUP A</a:t>
            </a:r>
          </a:p>
          <a:p>
            <a:r>
              <a:rPr lang="en-US" b="1" dirty="0"/>
              <a:t>Multiplication   </a:t>
            </a:r>
            <a:endParaRPr lang="en-IN" b="1" dirty="0"/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234 × 31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417 × 12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525 × 18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362 × 14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289 × 16</a:t>
            </a:r>
          </a:p>
          <a:p>
            <a:pPr>
              <a:lnSpc>
                <a:spcPct val="120000"/>
              </a:lnSpc>
            </a:pPr>
            <a:endParaRPr lang="en-IN" dirty="0"/>
          </a:p>
          <a:p>
            <a:endParaRPr lang="en-IN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D165299F-3BAB-E5ED-534E-D82EB867B293}"/>
              </a:ext>
            </a:extLst>
          </p:cNvPr>
          <p:cNvSpPr txBox="1">
            <a:spLocks/>
          </p:cNvSpPr>
          <p:nvPr/>
        </p:nvSpPr>
        <p:spPr>
          <a:xfrm>
            <a:off x="6335324" y="784759"/>
            <a:ext cx="2538575" cy="3523896"/>
          </a:xfrm>
          <a:prstGeom prst="rect">
            <a:avLst/>
          </a:prstGeom>
          <a:solidFill>
            <a:srgbClr val="7CEB99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b="1" dirty="0"/>
              <a:t>GROUP B</a:t>
            </a:r>
          </a:p>
          <a:p>
            <a:r>
              <a:rPr lang="en-US" b="1" dirty="0"/>
              <a:t>Multiplication   </a:t>
            </a:r>
            <a:endParaRPr lang="en-IN" b="1" dirty="0"/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471 × 19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608 × 22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395 × 13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512 × 15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673 × 21</a:t>
            </a:r>
          </a:p>
          <a:p>
            <a:pPr>
              <a:lnSpc>
                <a:spcPct val="120000"/>
              </a:lnSpc>
            </a:pPr>
            <a:endParaRPr lang="en-IN" dirty="0"/>
          </a:p>
          <a:p>
            <a:endParaRPr lang="en-IN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A7FFC2D4-74D7-D398-7378-F0ABFDC7A8CC}"/>
              </a:ext>
            </a:extLst>
          </p:cNvPr>
          <p:cNvSpPr txBox="1">
            <a:spLocks/>
          </p:cNvSpPr>
          <p:nvPr/>
        </p:nvSpPr>
        <p:spPr>
          <a:xfrm>
            <a:off x="9163261" y="784759"/>
            <a:ext cx="2538575" cy="5587111"/>
          </a:xfrm>
          <a:prstGeom prst="rect">
            <a:avLst/>
          </a:prstGeom>
          <a:solidFill>
            <a:srgbClr val="7CEB99"/>
          </a:solidFill>
        </p:spPr>
        <p:txBody>
          <a:bodyPr vert="horz" lIns="91440" tIns="45720" rIns="91440" bIns="45720" rtlCol="0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8800" b="1" dirty="0"/>
              <a:t>GROUP B</a:t>
            </a:r>
          </a:p>
          <a:p>
            <a:r>
              <a:rPr lang="en-US" sz="8800" b="1" dirty="0"/>
              <a:t>Division   </a:t>
            </a:r>
          </a:p>
          <a:p>
            <a:pPr marL="360000" indent="-540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8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972 ÷ 27</a:t>
            </a:r>
          </a:p>
          <a:p>
            <a:pPr marL="360000" indent="-540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8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648 ÷ 18</a:t>
            </a:r>
          </a:p>
          <a:p>
            <a:pPr marL="360000" indent="-540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8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816 ÷ 34</a:t>
            </a:r>
          </a:p>
          <a:p>
            <a:pPr marL="360000" indent="-540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8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930 ÷ 31</a:t>
            </a:r>
          </a:p>
          <a:p>
            <a:pPr marL="360000" indent="-540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8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1020 ÷ 30</a:t>
            </a:r>
          </a:p>
          <a:p>
            <a:pPr marL="360000" indent="-540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8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735 ÷ 35</a:t>
            </a:r>
          </a:p>
          <a:p>
            <a:pPr marL="360000" indent="-540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8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888 ÷ 24</a:t>
            </a:r>
          </a:p>
          <a:p>
            <a:pPr marL="360000" indent="-540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8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864 ÷ 36</a:t>
            </a:r>
          </a:p>
          <a:p>
            <a:pPr marL="360000" indent="-540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8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550 ÷ 22</a:t>
            </a:r>
          </a:p>
          <a:p>
            <a:pPr marL="360000" indent="-5580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8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999 ÷ 37</a:t>
            </a:r>
          </a:p>
          <a:p>
            <a:endParaRPr lang="en-IN" sz="8800" dirty="0"/>
          </a:p>
          <a:p>
            <a:pPr marL="514350" indent="-514350">
              <a:buFont typeface="+mj-lt"/>
              <a:buAutoNum type="arabicPeriod"/>
            </a:pPr>
            <a:endParaRPr lang="en-US" sz="8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2696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73</TotalTime>
  <Words>274</Words>
  <Application>Microsoft Office PowerPoint</Application>
  <PresentationFormat>Widescreen</PresentationFormat>
  <Paragraphs>107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Office Theme</vt:lpstr>
      <vt:lpstr>TEST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Kanika Mehta</dc:creator>
  <cp:lastModifiedBy>Kanika Mehta</cp:lastModifiedBy>
  <cp:revision>2</cp:revision>
  <dcterms:created xsi:type="dcterms:W3CDTF">2025-12-07T15:54:36Z</dcterms:created>
  <dcterms:modified xsi:type="dcterms:W3CDTF">2025-12-07T17:08:02Z</dcterms:modified>
</cp:coreProperties>
</file>